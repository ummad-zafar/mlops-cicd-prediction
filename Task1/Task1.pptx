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P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FA009C-F63F-4F36-A2A0-92DB8783307D}" type="datetimeFigureOut">
              <a:rPr lang="en-PK" smtClean="0"/>
              <a:t>31/10/2025</a:t>
            </a:fld>
            <a:endParaRPr lang="en-P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E04BEC-2718-4166-8095-648982B16C2E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5953471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E04BEC-2718-4166-8095-648982B16C2E}" type="slidenum">
              <a:rPr lang="en-PK" smtClean="0"/>
              <a:t>4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5193450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2035CA-76C9-8128-5596-2101316CFF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BB665F-F8C4-730B-2E3E-6B31D913A3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32C3B3-53F8-BA3D-3C6F-83A6362EDF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CA1216-9F5C-41F6-9B6D-15FCDDA695C1}" type="datetimeFigureOut">
              <a:rPr lang="en-PK" smtClean="0"/>
              <a:t>31/10/2025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B65395-B073-16F1-FDD9-F9D3CA5625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DD5A72-4A36-F9DA-3CA1-323818C408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BF504-0E80-4EAF-82C3-7C0575526C65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8249267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70909B-058F-166F-C10E-1FCC60E787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B2D7AF-C8BE-8C90-AF8F-BE9B8190D8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DD1A9E-A230-421A-321C-3D150C0196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CA1216-9F5C-41F6-9B6D-15FCDDA695C1}" type="datetimeFigureOut">
              <a:rPr lang="en-PK" smtClean="0"/>
              <a:t>31/10/2025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09B6A1-95E7-33EF-9AB5-A9472C9FF4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A0377F-EB72-B881-C314-38AD1E1921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BF504-0E80-4EAF-82C3-7C0575526C65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9988564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AA060E-0557-D027-6C15-836BD57C8F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3CF8ED-8356-CC99-D958-0EA6C640FA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B9AB8-AFC6-7193-EDFD-806A893D52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CA1216-9F5C-41F6-9B6D-15FCDDA695C1}" type="datetimeFigureOut">
              <a:rPr lang="en-PK" smtClean="0"/>
              <a:t>31/10/2025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72A5B2-E7D0-508C-FEEB-9DE44FAC0D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8D0534-9816-DCD3-00C0-A57CDDAE18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BF504-0E80-4EAF-82C3-7C0575526C65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0399532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0C35D6-4B1C-1FF8-68D9-5E7070A50A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75EC21-74D4-81C3-28E0-98CE69C0E03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5CEF67-409E-D8F3-018E-DF7CA70C09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AF3EC5-8E84-1C41-BF50-562108B125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CA1216-9F5C-41F6-9B6D-15FCDDA695C1}" type="datetimeFigureOut">
              <a:rPr lang="en-PK" smtClean="0"/>
              <a:t>31/10/2025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4E25F7-413B-F80F-CB2E-2D32311EF2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753F0B-9E37-276B-B56A-1DACDCB816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BF504-0E80-4EAF-82C3-7C0575526C65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3924084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FE1A9E-F6C1-35CB-415E-0377FDEE6E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76BACD-DF31-3E99-7E34-75C066B37C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94B854-7075-F26F-526D-C3BD45F62F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5ABC284-A332-3BAC-7764-348134F93D7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739C8C4-8BC6-14A0-B4E8-62F8FCB6F97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24AEFD1-40FE-1BD6-40D9-2D5AF17295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CA1216-9F5C-41F6-9B6D-15FCDDA695C1}" type="datetimeFigureOut">
              <a:rPr lang="en-PK" smtClean="0"/>
              <a:t>31/10/2025</a:t>
            </a:fld>
            <a:endParaRPr lang="en-P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53A6EF1-9BC1-FF1F-B6F3-AE4F4EC5D5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F579AD8-531C-A1DF-1DFE-4394C392F4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BF504-0E80-4EAF-82C3-7C0575526C65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4044627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29D0FD-0FEC-12AD-C3A0-A6D020FB55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3D0B012-FD85-1B5A-EC12-8F21F2C20A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CA1216-9F5C-41F6-9B6D-15FCDDA695C1}" type="datetimeFigureOut">
              <a:rPr lang="en-PK" smtClean="0"/>
              <a:t>31/10/2025</a:t>
            </a:fld>
            <a:endParaRPr lang="en-P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9E3232D-1DAC-48A7-32BF-036D2321DF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5CD3F7-722C-6E4F-8449-4CD74D3B46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BF504-0E80-4EAF-82C3-7C0575526C65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2306956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1305ED6-65E0-F892-EBC5-66790836C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CA1216-9F5C-41F6-9B6D-15FCDDA695C1}" type="datetimeFigureOut">
              <a:rPr lang="en-PK" smtClean="0"/>
              <a:t>31/10/2025</a:t>
            </a:fld>
            <a:endParaRPr lang="en-P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ACEE4DC-646C-0438-7454-F8A8318218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C9C377-AAC9-430B-4ADE-A4D02C0222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BF504-0E80-4EAF-82C3-7C0575526C65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565175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B81939-F96E-EA82-D8F6-97F6A7B46E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F64EFC-5AC0-1DA7-67D1-92C3D81535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27C9A7-5948-E92D-ABA5-028042260D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326565-0F8E-0C5C-90D0-B1FFE7AC4E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CA1216-9F5C-41F6-9B6D-15FCDDA695C1}" type="datetimeFigureOut">
              <a:rPr lang="en-PK" smtClean="0"/>
              <a:t>31/10/2025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8CE185-A263-9CE1-24FE-58E218CE25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482C42-4C70-FE00-1BC4-FA0F519C02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BF504-0E80-4EAF-82C3-7C0575526C65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9780762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D953F6-6FE0-BEBB-9641-CDDDBC48CD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C73CD88-816C-50DC-44D1-AD283E63D50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EB616B-4B0C-130C-18F6-CE65E36B4F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A45FBF-892E-FDBF-45AC-85799478E1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CA1216-9F5C-41F6-9B6D-15FCDDA695C1}" type="datetimeFigureOut">
              <a:rPr lang="en-PK" smtClean="0"/>
              <a:t>31/10/2025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A670C3-E12D-6B05-FC41-94F5E6056B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E952AE-6083-1EC6-0D78-6C3B7E7EB6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BF504-0E80-4EAF-82C3-7C0575526C65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4747309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871176-C5CC-9D01-42F0-6B7176F40F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3E59D22-BA8B-807A-3C7A-70BF576EA8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CCF46A-81E7-9029-958A-B5D17378AF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CA1216-9F5C-41F6-9B6D-15FCDDA695C1}" type="datetimeFigureOut">
              <a:rPr lang="en-PK" smtClean="0"/>
              <a:t>31/10/2025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3C524B-058F-2B91-0469-B0DA12A552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910A24-395C-A795-6245-D84910DCE9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BF504-0E80-4EAF-82C3-7C0575526C65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1957992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2DF6150-5D2A-A782-1826-6FEC85047FE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573F9E-AE2D-0D40-E881-94F11C11BC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74CD53-FAD0-085E-0F99-3708D5702E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CA1216-9F5C-41F6-9B6D-15FCDDA695C1}" type="datetimeFigureOut">
              <a:rPr lang="en-PK" smtClean="0"/>
              <a:t>31/10/2025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9C5941-77F6-6C8E-B4F0-7577932A7A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829DC2-5B49-8F77-F8B0-564E5A0E13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BF504-0E80-4EAF-82C3-7C0575526C65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6577350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106D88A-60A1-629A-34ED-502052F7F9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880438-862A-F2E1-0565-F28AEE5796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CCE991-0C28-AFA4-97C5-9A1A3F11542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9CA1216-9F5C-41F6-9B6D-15FCDDA695C1}" type="datetimeFigureOut">
              <a:rPr lang="en-PK" smtClean="0"/>
              <a:t>31/10/2025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59DC9F-E6D4-38F9-14C8-8A8B0964E9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A254FC-3AFE-0CDE-6EEB-7FFA78C573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63BF504-0E80-4EAF-82C3-7C0575526C65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4005054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P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858467-6FE1-3427-4347-AAED07D0A1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604865"/>
            <a:ext cx="9144000" cy="2920482"/>
          </a:xfrm>
        </p:spPr>
        <p:txBody>
          <a:bodyPr>
            <a:normAutofit/>
          </a:bodyPr>
          <a:lstStyle/>
          <a:p>
            <a:r>
              <a:rPr lang="en-US" dirty="0"/>
              <a:t>Predicting CI/CD Pipeline Failures Using Build and Test Logs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4852892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EA8581-007E-FC98-07A0-9A25531242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Understanding CI/CD Failures in DevOps Pipelines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BF8BE5-539F-6AB8-7FA4-C676D8CC45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290187" cy="4351338"/>
          </a:xfrm>
        </p:spPr>
        <p:txBody>
          <a:bodyPr>
            <a:normAutofit/>
          </a:bodyPr>
          <a:lstStyle/>
          <a:p>
            <a:r>
              <a:rPr lang="en-US" sz="2400" b="1" dirty="0"/>
              <a:t>Problem: </a:t>
            </a:r>
            <a:r>
              <a:rPr lang="en-US" sz="2400" dirty="0"/>
              <a:t>Automated CI/CD pipelines occasionally fail due to unstable builds, code issues, or misconfigurations.</a:t>
            </a:r>
          </a:p>
          <a:p>
            <a:r>
              <a:rPr lang="en-US" sz="2400" b="1" dirty="0"/>
              <a:t>Goal: </a:t>
            </a:r>
            <a:r>
              <a:rPr lang="en-US" sz="2400" dirty="0"/>
              <a:t>Identify and prepare a dataset that reveals patterns leading to pipeline failures.</a:t>
            </a:r>
          </a:p>
          <a:p>
            <a:r>
              <a:rPr lang="en-US" sz="2400" b="1" dirty="0"/>
              <a:t>Relevance: </a:t>
            </a:r>
            <a:r>
              <a:rPr lang="en-US" sz="2400" dirty="0"/>
              <a:t>Represents the Data Pipeline stage in MLOps — where data is collected, cleaned, and prepared for predictive modelling.</a:t>
            </a:r>
          </a:p>
          <a:p>
            <a:r>
              <a:rPr lang="en-US" sz="2400" b="1" dirty="0"/>
              <a:t>Dataset Source: </a:t>
            </a:r>
            <a:r>
              <a:rPr lang="en-US" sz="2400" dirty="0"/>
              <a:t>AI-Driven CI/CD Logs (Kaggle, 800 records, 11 columns).</a:t>
            </a:r>
            <a:endParaRPr lang="en-PK" sz="2400" dirty="0"/>
          </a:p>
        </p:txBody>
      </p:sp>
      <p:pic>
        <p:nvPicPr>
          <p:cNvPr id="1028" name="Picture 4" descr="What is CI/CD? - GeeksforGeeks">
            <a:extLst>
              <a:ext uri="{FF2B5EF4-FFF2-40B4-BE49-F238E27FC236}">
                <a16:creationId xmlns:a16="http://schemas.microsoft.com/office/drawing/2014/main" id="{1F054C51-8751-306B-8076-958266C4DC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95534" y="2300749"/>
            <a:ext cx="4244771" cy="29393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049349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E861FF-2C39-2095-A3CF-0C7C52F14C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Dataset Overview and Initial Observations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5E5DB4-095F-C300-5E6B-44A5E1E938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971419" cy="4351338"/>
          </a:xfrm>
        </p:spPr>
        <p:txBody>
          <a:bodyPr>
            <a:noAutofit/>
          </a:bodyPr>
          <a:lstStyle/>
          <a:p>
            <a:r>
              <a:rPr lang="en-US" sz="2400" dirty="0"/>
              <a:t>Dataset includes: timestamp, </a:t>
            </a:r>
            <a:r>
              <a:rPr lang="en-US" sz="2400" b="1" dirty="0" err="1"/>
              <a:t>pipeline_id</a:t>
            </a:r>
            <a:r>
              <a:rPr lang="en-US" sz="2400" b="1" dirty="0"/>
              <a:t>, </a:t>
            </a:r>
            <a:r>
              <a:rPr lang="en-US" sz="2400" b="1" dirty="0" err="1"/>
              <a:t>stage_name</a:t>
            </a:r>
            <a:r>
              <a:rPr lang="en-US" sz="2400" b="1" dirty="0"/>
              <a:t>, </a:t>
            </a:r>
            <a:r>
              <a:rPr lang="en-US" sz="2400" b="1" dirty="0" err="1"/>
              <a:t>job_name</a:t>
            </a:r>
            <a:r>
              <a:rPr lang="en-US" sz="2400" b="1" dirty="0"/>
              <a:t>, </a:t>
            </a:r>
            <a:r>
              <a:rPr lang="en-US" sz="2400" b="1" dirty="0" err="1"/>
              <a:t>task_name</a:t>
            </a:r>
            <a:r>
              <a:rPr lang="en-US" sz="2400" b="1" dirty="0"/>
              <a:t>, status, user, environment</a:t>
            </a:r>
            <a:r>
              <a:rPr lang="en-US" sz="2400" dirty="0"/>
              <a:t>.</a:t>
            </a:r>
          </a:p>
          <a:p>
            <a:r>
              <a:rPr lang="en-US" sz="2400" dirty="0"/>
              <a:t>Data quality issues:</a:t>
            </a:r>
          </a:p>
          <a:p>
            <a:pPr lvl="1"/>
            <a:r>
              <a:rPr lang="en-US" sz="2000" dirty="0"/>
              <a:t>Missing values → user (49.6 %), environment (77.4 %).</a:t>
            </a:r>
          </a:p>
          <a:p>
            <a:pPr lvl="1"/>
            <a:r>
              <a:rPr lang="en-US" sz="2000" dirty="0"/>
              <a:t>Duplicates: None detected.</a:t>
            </a:r>
          </a:p>
          <a:p>
            <a:pPr lvl="1"/>
            <a:r>
              <a:rPr lang="en-US" sz="2000" dirty="0"/>
              <a:t>Status Distribution: 24.3 % failures, majority “skipped” or “running.”</a:t>
            </a:r>
          </a:p>
          <a:p>
            <a:r>
              <a:rPr lang="en-US" sz="2400" b="1" dirty="0"/>
              <a:t>Significance:</a:t>
            </a:r>
            <a:br>
              <a:rPr lang="en-US" sz="2400" dirty="0"/>
            </a:br>
            <a:r>
              <a:rPr lang="en-US" sz="2400" dirty="0"/>
              <a:t>Represents realistic DevOps automation data suitable for analyzing how workflow conditions affect reliability.</a:t>
            </a:r>
            <a:endParaRPr lang="en-PK" sz="2400" dirty="0"/>
          </a:p>
        </p:txBody>
      </p:sp>
      <p:pic>
        <p:nvPicPr>
          <p:cNvPr id="5" name="Picture 4" descr="A graph with blue and orange bars&#10;&#10;AI-generated content may be incorrect.">
            <a:extLst>
              <a:ext uri="{FF2B5EF4-FFF2-40B4-BE49-F238E27FC236}">
                <a16:creationId xmlns:a16="http://schemas.microsoft.com/office/drawing/2014/main" id="{0AC3054D-FEBE-034A-AAFA-6684982381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9619" y="2218454"/>
            <a:ext cx="3890768" cy="2599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88552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C17936-BB64-E799-CA5A-BD0A728469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Cleaning and Feature Engineering Process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505604-8981-C0A5-715C-5B746EF22E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352071" cy="4351338"/>
          </a:xfrm>
        </p:spPr>
        <p:txBody>
          <a:bodyPr>
            <a:normAutofit fontScale="77500" lnSpcReduction="20000"/>
          </a:bodyPr>
          <a:lstStyle/>
          <a:p>
            <a:r>
              <a:rPr lang="en-US" b="1" dirty="0"/>
              <a:t>Preprocessing Steps:</a:t>
            </a:r>
          </a:p>
          <a:p>
            <a:pPr lvl="1"/>
            <a:r>
              <a:rPr lang="en-US" dirty="0"/>
              <a:t>Filled missing user with “automated” and environment with “</a:t>
            </a:r>
            <a:r>
              <a:rPr lang="en-US" dirty="0" err="1"/>
              <a:t>not_specified</a:t>
            </a:r>
            <a:r>
              <a:rPr lang="en-US" dirty="0"/>
              <a:t>.”</a:t>
            </a:r>
          </a:p>
          <a:p>
            <a:pPr lvl="1"/>
            <a:r>
              <a:rPr lang="en-US" dirty="0"/>
              <a:t>Removed duplicates (none found).</a:t>
            </a:r>
          </a:p>
          <a:p>
            <a:pPr lvl="1"/>
            <a:r>
              <a:rPr lang="en-US" dirty="0"/>
              <a:t>Converted timestamp into datetime to extract temporal features.</a:t>
            </a:r>
          </a:p>
          <a:p>
            <a:r>
              <a:rPr lang="en-US" b="1" dirty="0"/>
              <a:t>Feature Engineering:</a:t>
            </a:r>
            <a:endParaRPr lang="en-US" dirty="0"/>
          </a:p>
          <a:p>
            <a:pPr lvl="1"/>
            <a:r>
              <a:rPr lang="en-US" dirty="0"/>
              <a:t>Derived new temporal variables → hour, </a:t>
            </a:r>
            <a:r>
              <a:rPr lang="en-US" dirty="0" err="1"/>
              <a:t>day_of_week</a:t>
            </a:r>
            <a:r>
              <a:rPr lang="en-US" dirty="0"/>
              <a:t>, month</a:t>
            </a:r>
          </a:p>
          <a:p>
            <a:pPr lvl="1"/>
            <a:r>
              <a:rPr lang="en-US" dirty="0"/>
              <a:t>Created target variable → </a:t>
            </a:r>
            <a:r>
              <a:rPr lang="en-US" dirty="0" err="1"/>
              <a:t>is_failure</a:t>
            </a:r>
            <a:r>
              <a:rPr lang="en-US" dirty="0"/>
              <a:t> (1 = failed)</a:t>
            </a:r>
          </a:p>
          <a:p>
            <a:pPr lvl="1"/>
            <a:r>
              <a:rPr lang="en-US" dirty="0"/>
              <a:t>Encoded categorical features (stage_name, job_name, task_name, etc.)</a:t>
            </a:r>
          </a:p>
          <a:p>
            <a:pPr lvl="1"/>
            <a:r>
              <a:rPr lang="en-US" dirty="0"/>
              <a:t>Standardized numeric features for consistency</a:t>
            </a:r>
          </a:p>
          <a:p>
            <a:r>
              <a:rPr lang="en-US" b="1" dirty="0"/>
              <a:t>Purpose:</a:t>
            </a:r>
          </a:p>
          <a:p>
            <a:pPr lvl="1"/>
            <a:r>
              <a:rPr lang="en-US" dirty="0"/>
              <a:t>To transform unstructured pipeline logs into analytical data ready for model development.</a:t>
            </a:r>
          </a:p>
          <a:p>
            <a:endParaRPr lang="en-PK" dirty="0"/>
          </a:p>
        </p:txBody>
      </p:sp>
      <p:pic>
        <p:nvPicPr>
          <p:cNvPr id="4" name="Picture 3" descr="A graph with red squares&#10;&#10;AI-generated content may be incorrect.">
            <a:extLst>
              <a:ext uri="{FF2B5EF4-FFF2-40B4-BE49-F238E27FC236}">
                <a16:creationId xmlns:a16="http://schemas.microsoft.com/office/drawing/2014/main" id="{917DB2F0-849C-5AB2-0953-474C033754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8258" y="2523972"/>
            <a:ext cx="3163529" cy="2687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9041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89997C-7ED7-F31A-1368-3E36DD12CF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Outcomes and Key Insights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BEAFCB-B1E3-A940-9C4C-9A0D2F57A2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9024257" cy="4351338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b="1" dirty="0"/>
              <a:t>Findings:</a:t>
            </a:r>
            <a:endParaRPr lang="en-US" dirty="0"/>
          </a:p>
          <a:p>
            <a:r>
              <a:rPr lang="en-US" sz="2400" dirty="0"/>
              <a:t>Failures distributed almost evenly across </a:t>
            </a:r>
            <a:r>
              <a:rPr lang="en-US" sz="2400" b="1" dirty="0"/>
              <a:t>Build</a:t>
            </a:r>
            <a:r>
              <a:rPr lang="en-US" sz="2400" dirty="0"/>
              <a:t>, </a:t>
            </a:r>
            <a:r>
              <a:rPr lang="en-US" sz="2400" b="1" dirty="0"/>
              <a:t>Test</a:t>
            </a:r>
            <a:r>
              <a:rPr lang="en-US" sz="2400" dirty="0"/>
              <a:t>, </a:t>
            </a:r>
            <a:r>
              <a:rPr lang="en-US" sz="2400" b="1" dirty="0"/>
              <a:t>Deploy</a:t>
            </a:r>
            <a:r>
              <a:rPr lang="en-US" sz="2400" dirty="0"/>
              <a:t>, and </a:t>
            </a:r>
            <a:r>
              <a:rPr lang="en-US" sz="2400" b="1" dirty="0"/>
              <a:t>Analysis</a:t>
            </a:r>
            <a:r>
              <a:rPr lang="en-US" sz="2400" dirty="0"/>
              <a:t> stages (~25% each).</a:t>
            </a:r>
          </a:p>
          <a:p>
            <a:r>
              <a:rPr lang="en-US" sz="2400" dirty="0"/>
              <a:t>Most error-prone jobs: </a:t>
            </a:r>
            <a:r>
              <a:rPr lang="en-US" sz="2400" dirty="0" err="1"/>
              <a:t>run_unit_tests</a:t>
            </a:r>
            <a:r>
              <a:rPr lang="en-US" sz="2400" dirty="0"/>
              <a:t>, </a:t>
            </a:r>
            <a:r>
              <a:rPr lang="en-US" sz="2400" dirty="0" err="1"/>
              <a:t>run_integration_tests</a:t>
            </a:r>
            <a:r>
              <a:rPr lang="en-US" sz="2400" dirty="0"/>
              <a:t>, </a:t>
            </a:r>
            <a:r>
              <a:rPr lang="en-US" sz="2400" dirty="0" err="1"/>
              <a:t>deploy_to_dev</a:t>
            </a:r>
            <a:r>
              <a:rPr lang="en-US" sz="2400" dirty="0"/>
              <a:t>.</a:t>
            </a:r>
          </a:p>
          <a:p>
            <a:r>
              <a:rPr lang="en-US" sz="2400" dirty="0"/>
              <a:t>Failures mostly under “</a:t>
            </a:r>
            <a:r>
              <a:rPr lang="en-US" sz="2400" dirty="0" err="1"/>
              <a:t>not_specified</a:t>
            </a:r>
            <a:r>
              <a:rPr lang="en-US" sz="2400" dirty="0"/>
              <a:t>” environments → possible logging or config issues.</a:t>
            </a:r>
          </a:p>
          <a:p>
            <a:r>
              <a:rPr lang="en-US" sz="2400" dirty="0"/>
              <a:t>Peak failure window: </a:t>
            </a:r>
            <a:r>
              <a:rPr lang="en-US" sz="2400" b="1" dirty="0"/>
              <a:t>00:00–08:00</a:t>
            </a:r>
            <a:r>
              <a:rPr lang="en-US" sz="2400" dirty="0"/>
              <a:t>, suggesting automation-related instability.</a:t>
            </a:r>
          </a:p>
          <a:p>
            <a:pPr marL="0" indent="0">
              <a:buNone/>
            </a:pPr>
            <a:r>
              <a:rPr lang="en-US" b="1" dirty="0"/>
              <a:t>Final Dataset Summary:</a:t>
            </a:r>
          </a:p>
          <a:p>
            <a:r>
              <a:rPr lang="en-US" sz="2400" dirty="0"/>
              <a:t>After cleaning and feature engineering, the dataset now contains </a:t>
            </a:r>
            <a:r>
              <a:rPr lang="en-US" sz="2400" b="1" dirty="0"/>
              <a:t>19 features across 800 records</a:t>
            </a:r>
            <a:r>
              <a:rPr lang="en-US" sz="2400" dirty="0"/>
              <a:t>, fully ready for machine-learning modeling.</a:t>
            </a:r>
          </a:p>
          <a:p>
            <a:r>
              <a:rPr lang="en-US" sz="2400" dirty="0"/>
              <a:t>Failure rate = </a:t>
            </a:r>
            <a:r>
              <a:rPr lang="en-US" sz="2400" b="1"/>
              <a:t>24.25%</a:t>
            </a:r>
            <a:r>
              <a:rPr lang="en-US" sz="2400"/>
              <a:t>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1794382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E47C64-0939-B998-42A9-08A3968D7A4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Thank You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1764052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391</Words>
  <Application>Microsoft Office PowerPoint</Application>
  <PresentationFormat>Widescreen</PresentationFormat>
  <Paragraphs>36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Predicting CI/CD Pipeline Failures Using Build and Test Logs</vt:lpstr>
      <vt:lpstr>Understanding CI/CD Failures in DevOps Pipelines</vt:lpstr>
      <vt:lpstr>Dataset Overview and Initial Observations</vt:lpstr>
      <vt:lpstr>Data Cleaning and Feature Engineering Process</vt:lpstr>
      <vt:lpstr>Outcomes and Key Insights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Muhammad Zaman Ali</dc:creator>
  <cp:lastModifiedBy>Muhammad Zaman Ali</cp:lastModifiedBy>
  <cp:revision>3</cp:revision>
  <dcterms:created xsi:type="dcterms:W3CDTF">2025-10-31T05:51:58Z</dcterms:created>
  <dcterms:modified xsi:type="dcterms:W3CDTF">2025-10-31T05:53:46Z</dcterms:modified>
</cp:coreProperties>
</file>